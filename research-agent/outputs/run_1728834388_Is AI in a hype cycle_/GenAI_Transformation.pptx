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</a:t>
            </a:r>
            <a:pPr indent="0" marL="0">
              <a:buNone/>
            </a:pPr>
            <a:r>
              <a:rPr lang="en-US" sz="1100" b="1" spc="200" kern="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pPr indent="0" marL="0">
              <a:buNone/>
            </a:pPr>
            <a:r>
              <a:rPr lang="en-US" sz="1100" spc="200" kern="0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indent="0" marL="0">
              <a:buNone/>
            </a:pPr>
            <a:r>
              <a:rPr lang="en-US" sz="1100" spc="200" kern="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INITIATIVES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enterprise-wide GenAI transformation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3 strategic initiatives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5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initiatives work in concert to scale impact, drive adoption, and build a durable GenAI capability across the enterprise.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703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9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025896"/>
            <a:ext cx="37033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2262" y="6025896"/>
            <a:ext cx="1333195" cy="54864"/>
          </a:xfrm>
          <a:prstGeom prst="rect">
            <a:avLst/>
          </a:prstGeom>
          <a:solidFill>
            <a:srgbClr val="3A1A06"/>
          </a:solidFill>
          <a:ln w="12700">
            <a:solidFill>
              <a:srgbClr val="3A1A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624328"/>
            <a:ext cx="411480" cy="411480"/>
          </a:xfrm>
          <a:prstGeom prst="ellipse">
            <a:avLst/>
          </a:prstGeom>
          <a:solidFill>
            <a:srgbClr val="3A1A06"/>
          </a:solidFill>
          <a:ln w="12700">
            <a:solidFill>
              <a:srgbClr val="3A1A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7360" y="25877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Acceleration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737360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Identify. Build. Scale.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3227832"/>
            <a:ext cx="3246120" cy="0"/>
          </a:xfrm>
          <a:prstGeom prst="line">
            <a:avLst/>
          </a:prstGeom>
          <a:noFill/>
          <a:ln w="12700">
            <a:solidFill>
              <a:srgbClr val="F2D9C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3375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419856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25880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doing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325880" y="35570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high-value use cases across functions and building GenAI solutions with rapid pilots and scalable design.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33425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4233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 (dummy data)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25880" y="44714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use cases assessed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pilots in progress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 production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5800" y="51663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248656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5148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325880" y="53858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$12M+ annual value potential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 productivity improvement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customer and employee experience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297680" y="2423160"/>
            <a:ext cx="3703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9C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297680" y="6025896"/>
            <a:ext cx="37033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482742" y="6025896"/>
            <a:ext cx="1333195" cy="54864"/>
          </a:xfrm>
          <a:prstGeom prst="rect">
            <a:avLst/>
          </a:prstGeom>
          <a:solidFill>
            <a:srgbClr val="3A1A06"/>
          </a:solidFill>
          <a:ln w="12700">
            <a:solidFill>
              <a:srgbClr val="3A1A0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26280" y="2624328"/>
            <a:ext cx="411480" cy="411480"/>
          </a:xfrm>
          <a:prstGeom prst="ellipse">
            <a:avLst/>
          </a:prstGeom>
          <a:solidFill>
            <a:srgbClr val="3A1A06"/>
          </a:solidFill>
          <a:ln w="12700">
            <a:solidFill>
              <a:srgbClr val="3A1A0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2628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651760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77840" y="25877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Governance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5577840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Secure. Compliant. Scalable.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4526280" y="3227832"/>
            <a:ext cx="3246120" cy="0"/>
          </a:xfrm>
          <a:prstGeom prst="line">
            <a:avLst/>
          </a:prstGeom>
          <a:noFill/>
          <a:ln w="12700">
            <a:solidFill>
              <a:srgbClr val="F2D9C6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526280" y="33375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419856"/>
            <a:ext cx="338328" cy="33832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166360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doing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166360" y="35570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robust GenAI platform and governance model to ensure security, compliance, and responsible AI at scale.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4526280" y="42519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4334256"/>
            <a:ext cx="338328" cy="33832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166360" y="4233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 (dummy data)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166360" y="44714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GenAI platform in build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governance policies defined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of use cases aligned to guardrails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4526280" y="51663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576" y="5248656"/>
            <a:ext cx="338328" cy="33832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166360" y="5148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5166360" y="53858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 &amp; compliance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risk management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and reusable GenAI foundation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8138160" y="2423160"/>
            <a:ext cx="3703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D9C6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138160" y="6025896"/>
            <a:ext cx="37033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9323222" y="6025896"/>
            <a:ext cx="1333195" cy="54864"/>
          </a:xfrm>
          <a:prstGeom prst="rect">
            <a:avLst/>
          </a:prstGeom>
          <a:solidFill>
            <a:srgbClr val="3A1A06"/>
          </a:solidFill>
          <a:ln w="12700">
            <a:solidFill>
              <a:srgbClr val="3A1A06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8366760" y="2624328"/>
            <a:ext cx="411480" cy="411480"/>
          </a:xfrm>
          <a:prstGeom prst="ellipse">
            <a:avLst/>
          </a:prstGeom>
          <a:solidFill>
            <a:srgbClr val="3A1A06"/>
          </a:solidFill>
          <a:ln w="12700">
            <a:solidFill>
              <a:srgbClr val="3A1A06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836676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2651760"/>
            <a:ext cx="384048" cy="38404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9418320" y="25877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&amp; Adoption</a:t>
            </a:r>
            <a:endParaRPr lang="en-US" sz="1500" dirty="0"/>
          </a:p>
        </p:txBody>
      </p:sp>
      <p:sp>
        <p:nvSpPr>
          <p:cNvPr id="55" name="Text 44"/>
          <p:cNvSpPr/>
          <p:nvPr/>
        </p:nvSpPr>
        <p:spPr>
          <a:xfrm>
            <a:off x="9418320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Enable. Upskill. Adopt.</a:t>
            </a:r>
            <a:endParaRPr lang="en-US" sz="1200" dirty="0"/>
          </a:p>
        </p:txBody>
      </p:sp>
      <p:sp>
        <p:nvSpPr>
          <p:cNvPr id="56" name="Shape 45"/>
          <p:cNvSpPr/>
          <p:nvPr/>
        </p:nvSpPr>
        <p:spPr>
          <a:xfrm>
            <a:off x="8366760" y="3227832"/>
            <a:ext cx="3246120" cy="0"/>
          </a:xfrm>
          <a:prstGeom prst="line">
            <a:avLst/>
          </a:prstGeom>
          <a:noFill/>
          <a:ln w="12700">
            <a:solidFill>
              <a:srgbClr val="F2D9C6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8366760" y="33375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9056" y="3419856"/>
            <a:ext cx="338328" cy="338328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9006840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doing</a:t>
            </a:r>
            <a:endParaRPr lang="en-US" sz="1100" dirty="0"/>
          </a:p>
        </p:txBody>
      </p:sp>
      <p:sp>
        <p:nvSpPr>
          <p:cNvPr id="60" name="Text 48"/>
          <p:cNvSpPr/>
          <p:nvPr/>
        </p:nvSpPr>
        <p:spPr>
          <a:xfrm>
            <a:off x="9006840" y="35570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enterprise adoption through upskilling, change management, and a strong community of practice.</a:t>
            </a:r>
            <a:endParaRPr lang="en-US" sz="950" dirty="0"/>
          </a:p>
        </p:txBody>
      </p:sp>
      <p:sp>
        <p:nvSpPr>
          <p:cNvPr id="61" name="Shape 49"/>
          <p:cNvSpPr/>
          <p:nvPr/>
        </p:nvSpPr>
        <p:spPr>
          <a:xfrm>
            <a:off x="8366760" y="42519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9056" y="4334256"/>
            <a:ext cx="338328" cy="338328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9006840" y="4233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 (dummy data)</a:t>
            </a:r>
            <a:endParaRPr lang="en-US" sz="1100" dirty="0"/>
          </a:p>
        </p:txBody>
      </p:sp>
      <p:sp>
        <p:nvSpPr>
          <p:cNvPr id="64" name="Text 51"/>
          <p:cNvSpPr/>
          <p:nvPr/>
        </p:nvSpPr>
        <p:spPr>
          <a:xfrm>
            <a:off x="9006840" y="44714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employees trained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champions across functions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 active adoption in pilot groups</a:t>
            </a:r>
            <a:endParaRPr lang="en-US" sz="950" dirty="0"/>
          </a:p>
        </p:txBody>
      </p:sp>
      <p:sp>
        <p:nvSpPr>
          <p:cNvPr id="65" name="Shape 52"/>
          <p:cNvSpPr/>
          <p:nvPr/>
        </p:nvSpPr>
        <p:spPr>
          <a:xfrm>
            <a:off x="8366760" y="5166360"/>
            <a:ext cx="502920" cy="502920"/>
          </a:xfrm>
          <a:prstGeom prst="rect">
            <a:avLst/>
          </a:prstGeom>
          <a:solidFill>
            <a:srgbClr val="FFEBDA"/>
          </a:solidFill>
          <a:ln w="12700">
            <a:solidFill>
              <a:srgbClr val="FFEBDA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9056" y="5248656"/>
            <a:ext cx="338328" cy="338328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9006840" y="5148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68" name="Text 54"/>
          <p:cNvSpPr/>
          <p:nvPr/>
        </p:nvSpPr>
        <p:spPr>
          <a:xfrm>
            <a:off x="9006840" y="538581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user adoption and retention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GenAI culture and mindset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and innovation</a:t>
            </a:r>
            <a:endParaRPr lang="en-US" sz="950" dirty="0"/>
          </a:p>
        </p:txBody>
      </p:sp>
      <p:sp>
        <p:nvSpPr>
          <p:cNvPr id="69" name="Shape 55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FFF3EA"/>
          </a:solidFill>
          <a:ln w="12700">
            <a:solidFill>
              <a:srgbClr val="FFF3EA"/>
            </a:solidFill>
            <a:prstDash val="solid"/>
          </a:ln>
        </p:spPr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6336792"/>
            <a:ext cx="274320" cy="274320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1005840" y="6263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goal:  </a:t>
            </a:r>
            <a:pPr indent="0" marL="0">
              <a:buNone/>
            </a:pPr>
            <a:r>
              <a:rPr lang="en-US" sz="1150" dirty="0">
                <a:solidFill>
                  <a:srgbClr val="3A1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scalable GenAI ecosystem that drives measurable business value and positions us as an industry leader.</a:t>
            </a:r>
            <a:endParaRPr lang="en-US" sz="1150" dirty="0"/>
          </a:p>
        </p:txBody>
      </p:sp>
      <p:sp>
        <p:nvSpPr>
          <p:cNvPr id="72" name="Text 57"/>
          <p:cNvSpPr/>
          <p:nvPr/>
        </p:nvSpPr>
        <p:spPr>
          <a:xfrm>
            <a:off x="457200" y="67208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5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900" dirty="0">
                <a:solidFill>
                  <a:srgbClr val="785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data for illustrative purposes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Transformation</dc:title>
  <dc:subject>PptxGenJS Presentation</dc:subject>
  <dc:creator>PptxGenJS</dc:creator>
  <cp:lastModifiedBy>PptxGenJS</cp:lastModifiedBy>
  <cp:revision>1</cp:revision>
  <dcterms:created xsi:type="dcterms:W3CDTF">2026-05-12T10:48:29Z</dcterms:created>
  <dcterms:modified xsi:type="dcterms:W3CDTF">2026-05-12T10:48:29Z</dcterms:modified>
</cp:coreProperties>
</file>