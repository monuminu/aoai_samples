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6" d="100"/>
          <a:sy n="106" d="100"/>
        </p:scale>
        <p:origin x="96" y="2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58148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GENAI </a:t>
            </a:r>
            <a:r>
              <a:rPr lang="en-US" sz="1100" b="1" kern="0" spc="200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TRANSFORMATION</a:t>
            </a:r>
            <a:r>
              <a:rPr lang="en-US" sz="1100" kern="0" spc="2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|   </a:t>
            </a:r>
            <a:r>
              <a:rPr lang="en-US" sz="1100" kern="0" spc="200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INITIATIVES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Driving enterprise-wide GenAI transformation</a:t>
            </a:r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 3 strategic initiatives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457200" cy="45720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initiatives work in concert to scale impact, drive adoption, and build a durable GenAI capability across the enterprise.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2423160"/>
            <a:ext cx="37033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457200" y="6025896"/>
            <a:ext cx="3703320" cy="54864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1642262" y="6025896"/>
            <a:ext cx="1333195" cy="54864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685800" y="2624328"/>
            <a:ext cx="411480" cy="4114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685800" y="26243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651760"/>
            <a:ext cx="384048" cy="38404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737360" y="25877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 Acceleration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737360" y="286207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Identify. Build. Scale.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85800" y="3227832"/>
            <a:ext cx="3246120" cy="0"/>
          </a:xfrm>
          <a:prstGeom prst="line">
            <a:avLst/>
          </a:prstGeom>
          <a:noFill/>
          <a:ln w="12700">
            <a:solidFill>
              <a:srgbClr val="E3E8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Shape 12"/>
          <p:cNvSpPr/>
          <p:nvPr/>
        </p:nvSpPr>
        <p:spPr>
          <a:xfrm>
            <a:off x="685800" y="3337560"/>
            <a:ext cx="502920" cy="502920"/>
          </a:xfrm>
          <a:prstGeom prst="rect">
            <a:avLst/>
          </a:prstGeom>
          <a:solidFill>
            <a:srgbClr val="EEF3FB"/>
          </a:solidFill>
          <a:ln w="12700">
            <a:solidFill>
              <a:srgbClr val="EEF3F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" y="3419856"/>
            <a:ext cx="338328" cy="338328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325880" y="33192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we're doing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325880" y="3557016"/>
            <a:ext cx="2697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Identifying high-value use cases across functions and building GenAI solutions with rapid pilots and scalable design.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685800" y="4251960"/>
            <a:ext cx="502920" cy="502920"/>
          </a:xfrm>
          <a:prstGeom prst="rect">
            <a:avLst/>
          </a:prstGeom>
          <a:solidFill>
            <a:srgbClr val="EEF3FB"/>
          </a:solidFill>
          <a:ln w="12700">
            <a:solidFill>
              <a:srgbClr val="EEF3F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" y="4334256"/>
            <a:ext cx="338328" cy="33832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325880" y="42336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areas (dummy data)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1325880" y="4471416"/>
            <a:ext cx="2697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25+ use cases assessed</a:t>
            </a:r>
            <a:endParaRPr lang="en-US" sz="9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pilots in progress</a:t>
            </a:r>
            <a:endParaRPr lang="en-US" sz="9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in production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685800" y="5166360"/>
            <a:ext cx="502920" cy="502920"/>
          </a:xfrm>
          <a:prstGeom prst="rect">
            <a:avLst/>
          </a:prstGeom>
          <a:solidFill>
            <a:srgbClr val="EEF3FB"/>
          </a:solidFill>
          <a:ln w="12700">
            <a:solidFill>
              <a:srgbClr val="EEF3F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096" y="5248656"/>
            <a:ext cx="338328" cy="33832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325880" y="51480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impact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1325880" y="5385816"/>
            <a:ext cx="2697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$12M+ annual value potential</a:t>
            </a:r>
            <a:endParaRPr lang="en-US" sz="9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20–30% productivity improvement</a:t>
            </a:r>
            <a:endParaRPr lang="en-US" sz="9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Enhanced customer and employee experience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4297680" y="2423160"/>
            <a:ext cx="37033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2"/>
          <p:cNvSpPr/>
          <p:nvPr/>
        </p:nvSpPr>
        <p:spPr>
          <a:xfrm>
            <a:off x="4297680" y="6025896"/>
            <a:ext cx="3703320" cy="54864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Shape 23"/>
          <p:cNvSpPr/>
          <p:nvPr/>
        </p:nvSpPr>
        <p:spPr>
          <a:xfrm>
            <a:off x="5482742" y="6025896"/>
            <a:ext cx="1333195" cy="54864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Shape 24"/>
          <p:cNvSpPr/>
          <p:nvPr/>
        </p:nvSpPr>
        <p:spPr>
          <a:xfrm>
            <a:off x="4526280" y="2624328"/>
            <a:ext cx="411480" cy="4114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5"/>
          <p:cNvSpPr/>
          <p:nvPr/>
        </p:nvSpPr>
        <p:spPr>
          <a:xfrm>
            <a:off x="4526280" y="26243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74920" y="2651760"/>
            <a:ext cx="384048" cy="384048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5577840" y="25877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&amp; Governance</a:t>
            </a:r>
            <a:endParaRPr lang="en-US" sz="1500" dirty="0"/>
          </a:p>
        </p:txBody>
      </p:sp>
      <p:sp>
        <p:nvSpPr>
          <p:cNvPr id="34" name="Text 27"/>
          <p:cNvSpPr/>
          <p:nvPr/>
        </p:nvSpPr>
        <p:spPr>
          <a:xfrm>
            <a:off x="5577840" y="286207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Secure. Compliant. Scalable.</a:t>
            </a:r>
            <a:endParaRPr lang="en-US" sz="1200" dirty="0"/>
          </a:p>
        </p:txBody>
      </p:sp>
      <p:sp>
        <p:nvSpPr>
          <p:cNvPr id="35" name="Shape 28"/>
          <p:cNvSpPr/>
          <p:nvPr/>
        </p:nvSpPr>
        <p:spPr>
          <a:xfrm>
            <a:off x="4526280" y="3227832"/>
            <a:ext cx="3246120" cy="0"/>
          </a:xfrm>
          <a:prstGeom prst="line">
            <a:avLst/>
          </a:prstGeom>
          <a:noFill/>
          <a:ln w="12700">
            <a:solidFill>
              <a:srgbClr val="E3E8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29"/>
          <p:cNvSpPr/>
          <p:nvPr/>
        </p:nvSpPr>
        <p:spPr>
          <a:xfrm>
            <a:off x="4526280" y="3337560"/>
            <a:ext cx="502920" cy="502920"/>
          </a:xfrm>
          <a:prstGeom prst="rect">
            <a:avLst/>
          </a:prstGeom>
          <a:solidFill>
            <a:srgbClr val="EEF3FB"/>
          </a:solidFill>
          <a:ln w="12700">
            <a:solidFill>
              <a:srgbClr val="EEF3F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3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08576" y="3419856"/>
            <a:ext cx="338328" cy="338328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5166360" y="33192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we're doing</a:t>
            </a:r>
            <a:endParaRPr lang="en-US" sz="1100" dirty="0"/>
          </a:p>
        </p:txBody>
      </p:sp>
      <p:sp>
        <p:nvSpPr>
          <p:cNvPr id="39" name="Text 31"/>
          <p:cNvSpPr/>
          <p:nvPr/>
        </p:nvSpPr>
        <p:spPr>
          <a:xfrm>
            <a:off x="5166360" y="3557016"/>
            <a:ext cx="2697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a robust GenAI platform and governance model to ensure security, compliance, and responsible AI at scale.</a:t>
            </a:r>
            <a:endParaRPr lang="en-US" sz="950" dirty="0"/>
          </a:p>
        </p:txBody>
      </p:sp>
      <p:sp>
        <p:nvSpPr>
          <p:cNvPr id="40" name="Shape 32"/>
          <p:cNvSpPr/>
          <p:nvPr/>
        </p:nvSpPr>
        <p:spPr>
          <a:xfrm>
            <a:off x="4526280" y="4251960"/>
            <a:ext cx="502920" cy="502920"/>
          </a:xfrm>
          <a:prstGeom prst="rect">
            <a:avLst/>
          </a:prstGeom>
          <a:solidFill>
            <a:srgbClr val="EEF3FB"/>
          </a:solidFill>
          <a:ln w="12700">
            <a:solidFill>
              <a:srgbClr val="EEF3F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1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08576" y="4334256"/>
            <a:ext cx="338328" cy="338328"/>
          </a:xfrm>
          <a:prstGeom prst="rect">
            <a:avLst/>
          </a:prstGeom>
        </p:spPr>
      </p:pic>
      <p:sp>
        <p:nvSpPr>
          <p:cNvPr id="42" name="Text 33"/>
          <p:cNvSpPr/>
          <p:nvPr/>
        </p:nvSpPr>
        <p:spPr>
          <a:xfrm>
            <a:off x="5166360" y="42336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areas (dummy data)</a:t>
            </a:r>
            <a:endParaRPr lang="en-US" sz="1100" dirty="0"/>
          </a:p>
        </p:txBody>
      </p:sp>
      <p:sp>
        <p:nvSpPr>
          <p:cNvPr id="43" name="Text 34"/>
          <p:cNvSpPr/>
          <p:nvPr/>
        </p:nvSpPr>
        <p:spPr>
          <a:xfrm>
            <a:off x="5166360" y="4471416"/>
            <a:ext cx="2697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GenAI platform in build</a:t>
            </a:r>
            <a:endParaRPr lang="en-US" sz="9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10+ governance policies defined</a:t>
            </a:r>
            <a:endParaRPr lang="en-US" sz="9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of use cases aligned to guardrails</a:t>
            </a:r>
            <a:endParaRPr lang="en-US" sz="950" dirty="0"/>
          </a:p>
        </p:txBody>
      </p:sp>
      <p:sp>
        <p:nvSpPr>
          <p:cNvPr id="44" name="Shape 35"/>
          <p:cNvSpPr/>
          <p:nvPr/>
        </p:nvSpPr>
        <p:spPr>
          <a:xfrm>
            <a:off x="4526280" y="5166360"/>
            <a:ext cx="502920" cy="502920"/>
          </a:xfrm>
          <a:prstGeom prst="rect">
            <a:avLst/>
          </a:prstGeom>
          <a:solidFill>
            <a:srgbClr val="EEF3FB"/>
          </a:solidFill>
          <a:ln w="12700">
            <a:solidFill>
              <a:srgbClr val="EEF3F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5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08576" y="5248656"/>
            <a:ext cx="338328" cy="338328"/>
          </a:xfrm>
          <a:prstGeom prst="rect">
            <a:avLst/>
          </a:prstGeom>
        </p:spPr>
      </p:pic>
      <p:sp>
        <p:nvSpPr>
          <p:cNvPr id="46" name="Text 36"/>
          <p:cNvSpPr/>
          <p:nvPr/>
        </p:nvSpPr>
        <p:spPr>
          <a:xfrm>
            <a:off x="5166360" y="51480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impact</a:t>
            </a:r>
            <a:endParaRPr lang="en-US" sz="1100" dirty="0"/>
          </a:p>
        </p:txBody>
      </p:sp>
      <p:sp>
        <p:nvSpPr>
          <p:cNvPr id="47" name="Text 37"/>
          <p:cNvSpPr/>
          <p:nvPr/>
        </p:nvSpPr>
        <p:spPr>
          <a:xfrm>
            <a:off x="5166360" y="5385816"/>
            <a:ext cx="2697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Enterprise-grade security &amp; compliance</a:t>
            </a:r>
            <a:endParaRPr lang="en-US" sz="9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 risk management</a:t>
            </a:r>
            <a:endParaRPr lang="en-US" sz="9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Scalable and reusable GenAI foundation</a:t>
            </a:r>
            <a:endParaRPr lang="en-US" sz="950" dirty="0"/>
          </a:p>
        </p:txBody>
      </p:sp>
      <p:sp>
        <p:nvSpPr>
          <p:cNvPr id="48" name="Shape 38"/>
          <p:cNvSpPr/>
          <p:nvPr/>
        </p:nvSpPr>
        <p:spPr>
          <a:xfrm>
            <a:off x="8138160" y="2423160"/>
            <a:ext cx="37033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8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9" name="Shape 39"/>
          <p:cNvSpPr/>
          <p:nvPr/>
        </p:nvSpPr>
        <p:spPr>
          <a:xfrm>
            <a:off x="8138160" y="6025896"/>
            <a:ext cx="3703320" cy="54864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Shape 40"/>
          <p:cNvSpPr/>
          <p:nvPr/>
        </p:nvSpPr>
        <p:spPr>
          <a:xfrm>
            <a:off x="9323222" y="6025896"/>
            <a:ext cx="1333195" cy="54864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1" name="Shape 41"/>
          <p:cNvSpPr/>
          <p:nvPr/>
        </p:nvSpPr>
        <p:spPr>
          <a:xfrm>
            <a:off x="8366760" y="2624328"/>
            <a:ext cx="411480" cy="411480"/>
          </a:xfrm>
          <a:prstGeom prst="ellipse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42"/>
          <p:cNvSpPr/>
          <p:nvPr/>
        </p:nvSpPr>
        <p:spPr>
          <a:xfrm>
            <a:off x="8366760" y="26243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pic>
        <p:nvPicPr>
          <p:cNvPr id="53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15400" y="2651760"/>
            <a:ext cx="384048" cy="384048"/>
          </a:xfrm>
          <a:prstGeom prst="rect">
            <a:avLst/>
          </a:prstGeom>
        </p:spPr>
      </p:pic>
      <p:sp>
        <p:nvSpPr>
          <p:cNvPr id="54" name="Text 43"/>
          <p:cNvSpPr/>
          <p:nvPr/>
        </p:nvSpPr>
        <p:spPr>
          <a:xfrm>
            <a:off x="9418320" y="25877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Capability &amp; Adoption</a:t>
            </a:r>
            <a:endParaRPr lang="en-US" sz="1500" dirty="0"/>
          </a:p>
        </p:txBody>
      </p:sp>
      <p:sp>
        <p:nvSpPr>
          <p:cNvPr id="55" name="Text 44"/>
          <p:cNvSpPr/>
          <p:nvPr/>
        </p:nvSpPr>
        <p:spPr>
          <a:xfrm>
            <a:off x="9418320" y="286207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Enable. Upskill. Adopt.</a:t>
            </a:r>
            <a:endParaRPr lang="en-US" sz="1200" dirty="0"/>
          </a:p>
        </p:txBody>
      </p:sp>
      <p:sp>
        <p:nvSpPr>
          <p:cNvPr id="56" name="Shape 45"/>
          <p:cNvSpPr/>
          <p:nvPr/>
        </p:nvSpPr>
        <p:spPr>
          <a:xfrm>
            <a:off x="8366760" y="3227832"/>
            <a:ext cx="3246120" cy="0"/>
          </a:xfrm>
          <a:prstGeom prst="line">
            <a:avLst/>
          </a:prstGeom>
          <a:noFill/>
          <a:ln w="12700">
            <a:solidFill>
              <a:srgbClr val="E3E8E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Shape 46"/>
          <p:cNvSpPr/>
          <p:nvPr/>
        </p:nvSpPr>
        <p:spPr>
          <a:xfrm>
            <a:off x="8366760" y="3337560"/>
            <a:ext cx="502920" cy="502920"/>
          </a:xfrm>
          <a:prstGeom prst="rect">
            <a:avLst/>
          </a:prstGeom>
          <a:solidFill>
            <a:srgbClr val="EEF3FB"/>
          </a:solidFill>
          <a:ln w="12700">
            <a:solidFill>
              <a:srgbClr val="EEF3F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58" name="Image 9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9056" y="3419856"/>
            <a:ext cx="338328" cy="338328"/>
          </a:xfrm>
          <a:prstGeom prst="rect">
            <a:avLst/>
          </a:prstGeom>
        </p:spPr>
      </p:pic>
      <p:sp>
        <p:nvSpPr>
          <p:cNvPr id="59" name="Text 47"/>
          <p:cNvSpPr/>
          <p:nvPr/>
        </p:nvSpPr>
        <p:spPr>
          <a:xfrm>
            <a:off x="9006840" y="33192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we're doing</a:t>
            </a:r>
            <a:endParaRPr lang="en-US" sz="1100" dirty="0"/>
          </a:p>
        </p:txBody>
      </p:sp>
      <p:sp>
        <p:nvSpPr>
          <p:cNvPr id="60" name="Text 48"/>
          <p:cNvSpPr/>
          <p:nvPr/>
        </p:nvSpPr>
        <p:spPr>
          <a:xfrm>
            <a:off x="9006840" y="3557016"/>
            <a:ext cx="2697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Driving enterprise adoption through upskilling, change management, and a strong community of practice.</a:t>
            </a:r>
            <a:endParaRPr lang="en-US" sz="950" dirty="0"/>
          </a:p>
        </p:txBody>
      </p:sp>
      <p:sp>
        <p:nvSpPr>
          <p:cNvPr id="61" name="Shape 49"/>
          <p:cNvSpPr/>
          <p:nvPr/>
        </p:nvSpPr>
        <p:spPr>
          <a:xfrm>
            <a:off x="8366760" y="4251960"/>
            <a:ext cx="502920" cy="502920"/>
          </a:xfrm>
          <a:prstGeom prst="rect">
            <a:avLst/>
          </a:prstGeom>
          <a:solidFill>
            <a:srgbClr val="EEF3FB"/>
          </a:solidFill>
          <a:ln w="12700">
            <a:solidFill>
              <a:srgbClr val="EEF3F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6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49056" y="4334256"/>
            <a:ext cx="338328" cy="338328"/>
          </a:xfrm>
          <a:prstGeom prst="rect">
            <a:avLst/>
          </a:prstGeom>
        </p:spPr>
      </p:pic>
      <p:sp>
        <p:nvSpPr>
          <p:cNvPr id="63" name="Text 50"/>
          <p:cNvSpPr/>
          <p:nvPr/>
        </p:nvSpPr>
        <p:spPr>
          <a:xfrm>
            <a:off x="9006840" y="42336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areas (dummy data)</a:t>
            </a:r>
            <a:endParaRPr lang="en-US" sz="1100" dirty="0"/>
          </a:p>
        </p:txBody>
      </p:sp>
      <p:sp>
        <p:nvSpPr>
          <p:cNvPr id="64" name="Text 51"/>
          <p:cNvSpPr/>
          <p:nvPr/>
        </p:nvSpPr>
        <p:spPr>
          <a:xfrm>
            <a:off x="9006840" y="4471416"/>
            <a:ext cx="2697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5,000+ employees trained</a:t>
            </a:r>
            <a:endParaRPr lang="en-US" sz="9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 champions across functions</a:t>
            </a:r>
            <a:endParaRPr lang="en-US" sz="9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70%+ active adoption in pilot groups</a:t>
            </a:r>
            <a:endParaRPr lang="en-US" sz="950" dirty="0"/>
          </a:p>
        </p:txBody>
      </p:sp>
      <p:sp>
        <p:nvSpPr>
          <p:cNvPr id="65" name="Shape 52"/>
          <p:cNvSpPr/>
          <p:nvPr/>
        </p:nvSpPr>
        <p:spPr>
          <a:xfrm>
            <a:off x="8366760" y="5166360"/>
            <a:ext cx="502920" cy="502920"/>
          </a:xfrm>
          <a:prstGeom prst="rect">
            <a:avLst/>
          </a:prstGeom>
          <a:solidFill>
            <a:srgbClr val="EEF3FB"/>
          </a:solidFill>
          <a:ln w="12700">
            <a:solidFill>
              <a:srgbClr val="EEF3F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66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49056" y="5248656"/>
            <a:ext cx="338328" cy="338328"/>
          </a:xfrm>
          <a:prstGeom prst="rect">
            <a:avLst/>
          </a:prstGeom>
        </p:spPr>
      </p:pic>
      <p:sp>
        <p:nvSpPr>
          <p:cNvPr id="67" name="Text 53"/>
          <p:cNvSpPr/>
          <p:nvPr/>
        </p:nvSpPr>
        <p:spPr>
          <a:xfrm>
            <a:off x="9006840" y="51480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6F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impact</a:t>
            </a:r>
            <a:endParaRPr lang="en-US" sz="1100" dirty="0"/>
          </a:p>
        </p:txBody>
      </p:sp>
      <p:sp>
        <p:nvSpPr>
          <p:cNvPr id="68" name="Text 54"/>
          <p:cNvSpPr/>
          <p:nvPr/>
        </p:nvSpPr>
        <p:spPr>
          <a:xfrm>
            <a:off x="9006840" y="5385816"/>
            <a:ext cx="2697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user adoption and retention</a:t>
            </a:r>
            <a:endParaRPr lang="en-US" sz="9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 GenAI culture and mindset</a:t>
            </a:r>
            <a:endParaRPr lang="en-US" sz="95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learning and innovation</a:t>
            </a:r>
            <a:endParaRPr lang="en-US" sz="950" dirty="0"/>
          </a:p>
        </p:txBody>
      </p:sp>
      <p:sp>
        <p:nvSpPr>
          <p:cNvPr id="69" name="Shape 55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solidFill>
            <a:srgbClr val="F5F8FE"/>
          </a:solidFill>
          <a:ln w="12700">
            <a:solidFill>
              <a:srgbClr val="F5F8F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70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0080" y="6336792"/>
            <a:ext cx="274320" cy="274320"/>
          </a:xfrm>
          <a:prstGeom prst="rect">
            <a:avLst/>
          </a:prstGeom>
        </p:spPr>
      </p:pic>
      <p:sp>
        <p:nvSpPr>
          <p:cNvPr id="71" name="Text 56"/>
          <p:cNvSpPr/>
          <p:nvPr/>
        </p:nvSpPr>
        <p:spPr>
          <a:xfrm>
            <a:off x="1005840" y="626364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goal:  </a:t>
            </a:r>
            <a:r>
              <a:rPr lang="en-US" sz="1150" dirty="0">
                <a:solidFill>
                  <a:srgbClr val="0B1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scalable GenAI ecosystem that drives measurable business value and positions us as an industry leader.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87ba5c36-b7cf-4793-bbc2-bd5b3a9f95ca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260</Words>
  <Application>Microsoft Office PowerPoint</Application>
  <PresentationFormat>Widescreen</PresentationFormat>
  <Paragraphs>45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GenAI Transformation</dc:title>
  <dc:subject>PptxGenJS Presentation</dc:subject>
  <dc:creator>PptxGenJS</dc:creator>
  <cp:lastModifiedBy>Manoranjan Rajguru</cp:lastModifiedBy>
  <cp:revision>2</cp:revision>
  <dcterms:created xsi:type="dcterms:W3CDTF">2026-05-12T10:20:33Z</dcterms:created>
  <dcterms:modified xsi:type="dcterms:W3CDTF">2026-05-12T10:25:16Z</dcterms:modified>
</cp:coreProperties>
</file>